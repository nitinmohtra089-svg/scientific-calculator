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League Spart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KYycQ62FKaG4qRHpzTMJFwu8P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eagueSpartan-bold.fntdata"/><Relationship Id="rId14" Type="http://schemas.openxmlformats.org/officeDocument/2006/relationships/font" Target="fonts/LeagueSpartan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546664" y="464260"/>
            <a:ext cx="6217198" cy="2207167"/>
          </a:xfrm>
          <a:custGeom>
            <a:rect b="b" l="l" r="r" t="t"/>
            <a:pathLst>
              <a:path extrusionOk="0" h="2207167" w="6217198">
                <a:moveTo>
                  <a:pt x="0" y="0"/>
                </a:moveTo>
                <a:lnTo>
                  <a:pt x="6217198" y="0"/>
                </a:lnTo>
                <a:lnTo>
                  <a:pt x="6217198" y="2207166"/>
                </a:lnTo>
                <a:lnTo>
                  <a:pt x="0" y="2207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0837" l="0" r="0" t="-90837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58713" y="3386715"/>
            <a:ext cx="18288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Scientific Calculator Using Python </a:t>
            </a:r>
            <a:endParaRPr b="1"/>
          </a:p>
        </p:txBody>
      </p:sp>
      <p:sp>
        <p:nvSpPr>
          <p:cNvPr id="86" name="Google Shape;86;p1"/>
          <p:cNvSpPr txBox="1"/>
          <p:nvPr/>
        </p:nvSpPr>
        <p:spPr>
          <a:xfrm>
            <a:off x="-7164078" y="5517998"/>
            <a:ext cx="249633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15">
                <a:solidFill>
                  <a:srgbClr val="D9D9D9"/>
                </a:solidFill>
              </a:rPr>
              <a:t>                                     </a:t>
            </a:r>
            <a:r>
              <a:rPr b="1" i="0" lang="en-US" sz="6015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Presented By                             </a:t>
            </a:r>
            <a:r>
              <a:rPr b="1" lang="en-US" sz="6015">
                <a:solidFill>
                  <a:srgbClr val="D9D9D9"/>
                </a:solidFill>
              </a:rPr>
              <a:t>Presented To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15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                               Nitin Mohtra                 </a:t>
            </a:r>
            <a:r>
              <a:rPr b="1" lang="en-US" sz="6015">
                <a:solidFill>
                  <a:srgbClr val="D9D9D9"/>
                </a:solidFill>
              </a:rPr>
              <a:t> Nexthikes IT Solutions </a:t>
            </a:r>
            <a:r>
              <a:rPr b="1" i="0" lang="en-US" sz="6015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15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   </a:t>
            </a:r>
            <a:endParaRPr/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15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521955" y="7924260"/>
            <a:ext cx="64923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1"/>
          <p:cNvCxnSpPr/>
          <p:nvPr/>
        </p:nvCxnSpPr>
        <p:spPr>
          <a:xfrm>
            <a:off x="9539675" y="7764670"/>
            <a:ext cx="64923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2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2305323" y="857250"/>
            <a:ext cx="13677355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Introduction &amp; Features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1561650" y="3181375"/>
            <a:ext cx="15631200" cy="59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1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A Scientific Calculator built with Python's Tkinter library featuring an interactive GUI.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141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068" lvl="1" marL="894137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141"/>
              <a:buFont typeface="Arial"/>
              <a:buChar char="•"/>
            </a:pPr>
            <a:r>
              <a:rPr b="1" i="0" lang="en-US" sz="4141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Basic Operations: +, −, ×, ÷, %, ( )</a:t>
            </a:r>
            <a:endParaRPr/>
          </a:p>
          <a:p>
            <a:pPr indent="-447068" lvl="1" marL="894137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141"/>
              <a:buFont typeface="Arial"/>
              <a:buChar char="•"/>
            </a:pPr>
            <a:r>
              <a:rPr b="1" i="0" lang="en-US" sz="4141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Scientific Functions: Sin(), Cos(), Tan(), Sqrt(), Log(), Exp()</a:t>
            </a:r>
            <a:endParaRPr/>
          </a:p>
          <a:p>
            <a:pPr indent="-447068" lvl="1" marL="894137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141"/>
              <a:buFont typeface="Arial"/>
              <a:buChar char="•"/>
            </a:pPr>
            <a:r>
              <a:rPr b="1" i="0" lang="en-US" sz="4141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Constants: π (pi) and e</a:t>
            </a:r>
            <a:endParaRPr/>
          </a:p>
          <a:p>
            <a:pPr indent="-447068" lvl="1" marL="894137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141"/>
              <a:buFont typeface="Arial"/>
              <a:buChar char="•"/>
            </a:pPr>
            <a:r>
              <a:rPr b="1" i="0" lang="en-US" sz="4141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Utilities: Clear (C), Backspace (DEL), Error handling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2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2281932" y="857250"/>
            <a:ext cx="13724137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How the Program Works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1028700" y="2827655"/>
            <a:ext cx="16230600" cy="6430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61339" lvl="1" marL="1122679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199"/>
              <a:buFont typeface="Arial"/>
              <a:buChar char="•"/>
            </a:pPr>
            <a:r>
              <a:rPr b="1" i="0" lang="en-US" sz="5199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User enters expression in the input field</a:t>
            </a:r>
            <a:endParaRPr/>
          </a:p>
          <a:p>
            <a:pPr indent="-561339" lvl="1" marL="1122679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199"/>
              <a:buFont typeface="Arial"/>
              <a:buChar char="•"/>
            </a:pPr>
            <a:r>
              <a:rPr b="1" i="0" lang="en-US" sz="5199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Operator ^ is converted to ** for exponentiation</a:t>
            </a:r>
            <a:endParaRPr/>
          </a:p>
          <a:p>
            <a:pPr indent="-561339" lvl="1" marL="1122679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199"/>
              <a:buFont typeface="Arial"/>
              <a:buChar char="•"/>
            </a:pPr>
            <a:r>
              <a:rPr b="1" i="0" lang="en-US" sz="5199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Python's math module evaluates scientific functions</a:t>
            </a:r>
            <a:endParaRPr/>
          </a:p>
          <a:p>
            <a:pPr indent="-561339" lvl="1" marL="1122679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199"/>
              <a:buFont typeface="Arial"/>
              <a:buChar char="•"/>
            </a:pPr>
            <a:r>
              <a:rPr b="1" i="0" lang="en-US" sz="5199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eval() computes the final expression safely</a:t>
            </a:r>
            <a:endParaRPr/>
          </a:p>
          <a:p>
            <a:pPr indent="-561339" lvl="1" marL="1122679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5199"/>
              <a:buFont typeface="Arial"/>
              <a:buChar char="•"/>
            </a:pPr>
            <a:r>
              <a:rPr b="1" i="0" lang="en-US" sz="5199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Results displayed instantly in the entry box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2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1028700" y="2490450"/>
            <a:ext cx="16564800" cy="6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Components Used :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54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90504" lvl="1" marL="981008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43"/>
              <a:buFont typeface="Arial"/>
              <a:buChar char="•"/>
            </a:pPr>
            <a:r>
              <a:rPr b="1" i="0" lang="en-US" sz="45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Tk(): Main window | Entry(): Display box</a:t>
            </a:r>
            <a:endParaRPr/>
          </a:p>
          <a:p>
            <a:pPr indent="-490504" lvl="1" marL="981008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43"/>
              <a:buFont typeface="Arial"/>
              <a:buChar char="•"/>
            </a:pPr>
            <a:r>
              <a:rPr b="1" i="0" lang="en-US" sz="45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Button(): Calculator keys | Frame(): Layout organization</a:t>
            </a:r>
            <a:endParaRPr/>
          </a:p>
          <a:p>
            <a:pPr indent="-490504" lvl="1" marL="981008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43"/>
              <a:buFont typeface="Arial"/>
              <a:buChar char="•"/>
            </a:pPr>
            <a:r>
              <a:rPr b="1" i="0" lang="en-US" sz="45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Modules: Tkinter, math, functools</a:t>
            </a:r>
            <a:endParaRPr/>
          </a:p>
          <a:p>
            <a:pPr indent="-490504" lvl="1" marL="981008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43"/>
              <a:buFont typeface="Arial"/>
              <a:buChar char="•"/>
            </a:pPr>
            <a:r>
              <a:rPr b="1" i="0" lang="en-US" sz="45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Architecture: Event-driven programming model with grid layout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018965" y="9332050"/>
            <a:ext cx="7315200" cy="883052"/>
          </a:xfrm>
          <a:custGeom>
            <a:rect b="b" l="l" r="r" t="t"/>
            <a:pathLst>
              <a:path extrusionOk="0" h="883052" w="7315200">
                <a:moveTo>
                  <a:pt x="0" y="0"/>
                </a:moveTo>
                <a:lnTo>
                  <a:pt x="7315200" y="0"/>
                </a:lnTo>
                <a:lnTo>
                  <a:pt x="7315200" y="883052"/>
                </a:lnTo>
                <a:lnTo>
                  <a:pt x="0" y="883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 txBox="1"/>
          <p:nvPr/>
        </p:nvSpPr>
        <p:spPr>
          <a:xfrm>
            <a:off x="1028700" y="511296"/>
            <a:ext cx="16564719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GUI Design &amp; Technical Stack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2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514350" y="569500"/>
            <a:ext cx="17259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Key Learnings &amp; Advantages</a:t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361200" y="2517800"/>
            <a:ext cx="17565600" cy="71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 Learned:</a:t>
            </a:r>
            <a:endParaRPr/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31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Tkinter GUI design and event-driven programming</a:t>
            </a:r>
            <a:endParaRPr/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math module for scientific computations and input validation</a:t>
            </a:r>
            <a:endParaRPr/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31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1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Advantages: Platform-independent, lightweight, extensible, demonstrates practical GUI skills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2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/>
        </p:nvSpPr>
        <p:spPr>
          <a:xfrm>
            <a:off x="1028700" y="3414094"/>
            <a:ext cx="15524680" cy="443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project demonstrates how Python can build functional real-time GUI applications integrating basic and advanced mathematical features.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5035054" y="8375248"/>
            <a:ext cx="7315200" cy="883052"/>
          </a:xfrm>
          <a:custGeom>
            <a:rect b="b" l="l" r="r" t="t"/>
            <a:pathLst>
              <a:path extrusionOk="0" h="883052" w="7315200">
                <a:moveTo>
                  <a:pt x="0" y="0"/>
                </a:moveTo>
                <a:lnTo>
                  <a:pt x="7315200" y="0"/>
                </a:lnTo>
                <a:lnTo>
                  <a:pt x="7315200" y="883052"/>
                </a:lnTo>
                <a:lnTo>
                  <a:pt x="0" y="883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6"/>
          <p:cNvSpPr txBox="1"/>
          <p:nvPr/>
        </p:nvSpPr>
        <p:spPr>
          <a:xfrm>
            <a:off x="5937746" y="857250"/>
            <a:ext cx="6412508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2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/>
        </p:nvSpPr>
        <p:spPr>
          <a:xfrm>
            <a:off x="1028700" y="2816963"/>
            <a:ext cx="16657239" cy="457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66862" lvl="1" marL="933723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24"/>
              <a:buFont typeface="Arial"/>
              <a:buChar char="•"/>
            </a:pPr>
            <a:r>
              <a:rPr b="1" i="0" lang="en-US" sz="43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Gemini - AI-assisted research and learning</a:t>
            </a:r>
            <a:endParaRPr/>
          </a:p>
          <a:p>
            <a:pPr indent="-466862" lvl="1" marL="933723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24"/>
              <a:buFont typeface="Arial"/>
              <a:buChar char="•"/>
            </a:pPr>
            <a:r>
              <a:rPr b="1" i="0" lang="en-US" sz="43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ChatGPT - Technical documentation and guidance</a:t>
            </a:r>
            <a:endParaRPr/>
          </a:p>
          <a:p>
            <a:pPr indent="-466862" lvl="1" marL="933723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24"/>
              <a:buFont typeface="Arial"/>
              <a:buChar char="•"/>
            </a:pPr>
            <a:r>
              <a:rPr b="1" i="0" lang="en-US" sz="43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Perplexity AI - In-depth research and analysis</a:t>
            </a:r>
            <a:endParaRPr/>
          </a:p>
          <a:p>
            <a:pPr indent="-466862" lvl="1" marL="933723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24"/>
              <a:buFont typeface="Arial"/>
              <a:buChar char="•"/>
            </a:pPr>
            <a:r>
              <a:rPr b="1" i="0" lang="en-US" sz="43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Official Docs - Tkinter and Math module documentation</a:t>
            </a:r>
            <a:endParaRPr/>
          </a:p>
          <a:p>
            <a:pPr indent="-466862" lvl="1" marL="933723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24"/>
              <a:buFont typeface="Arial"/>
              <a:buChar char="•"/>
            </a:pPr>
            <a:r>
              <a:rPr b="1" i="0" lang="en-US" sz="43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GeeksforGeeks - Python GUI tutorials and examples</a:t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050370" y="8816774"/>
            <a:ext cx="7315200" cy="883052"/>
          </a:xfrm>
          <a:custGeom>
            <a:rect b="b" l="l" r="r" t="t"/>
            <a:pathLst>
              <a:path extrusionOk="0" h="883052" w="7315200">
                <a:moveTo>
                  <a:pt x="0" y="0"/>
                </a:moveTo>
                <a:lnTo>
                  <a:pt x="7315200" y="0"/>
                </a:lnTo>
                <a:lnTo>
                  <a:pt x="7315200" y="883052"/>
                </a:lnTo>
                <a:lnTo>
                  <a:pt x="0" y="883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7"/>
          <p:cNvSpPr txBox="1"/>
          <p:nvPr/>
        </p:nvSpPr>
        <p:spPr>
          <a:xfrm>
            <a:off x="5512556" y="857250"/>
            <a:ext cx="6390829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A2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/>
        </p:nvSpPr>
        <p:spPr>
          <a:xfrm>
            <a:off x="3757613" y="3773805"/>
            <a:ext cx="10772775" cy="246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0" u="none" cap="none" strike="noStrike">
                <a:solidFill>
                  <a:srgbClr val="38B6FF"/>
                </a:solidFill>
                <a:latin typeface="Arial"/>
                <a:ea typeface="Arial"/>
                <a:cs typeface="Arial"/>
                <a:sym typeface="Arial"/>
              </a:rPr>
              <a:t>THANKYOU </a:t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040260" y="6734931"/>
            <a:ext cx="7315200" cy="883052"/>
          </a:xfrm>
          <a:custGeom>
            <a:rect b="b" l="l" r="r" t="t"/>
            <a:pathLst>
              <a:path extrusionOk="0" h="883052" w="7315200">
                <a:moveTo>
                  <a:pt x="0" y="0"/>
                </a:moveTo>
                <a:lnTo>
                  <a:pt x="7315200" y="0"/>
                </a:lnTo>
                <a:lnTo>
                  <a:pt x="7315200" y="883052"/>
                </a:lnTo>
                <a:lnTo>
                  <a:pt x="0" y="883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